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5" r:id="rId5"/>
    <p:sldId id="260" r:id="rId6"/>
    <p:sldId id="264" r:id="rId7"/>
  </p:sldIdLst>
  <p:sldSz cx="9906000" cy="6858000" type="A4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17" autoAdjust="0"/>
    <p:restoredTop sz="94660"/>
  </p:normalViewPr>
  <p:slideViewPr>
    <p:cSldViewPr>
      <p:cViewPr varScale="1">
        <p:scale>
          <a:sx n="110" d="100"/>
          <a:sy n="110" d="100"/>
        </p:scale>
        <p:origin x="-1344" y="-9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905001"/>
            <a:ext cx="817245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4572000"/>
            <a:ext cx="700024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7" y="5486400"/>
            <a:ext cx="8297994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7" y="3852864"/>
            <a:ext cx="6646994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536192"/>
            <a:ext cx="39624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7900" y="1536192"/>
            <a:ext cx="39624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39624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39624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7900" y="1535113"/>
            <a:ext cx="39624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7900" y="2174875"/>
            <a:ext cx="39624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1" y="5495544"/>
            <a:ext cx="84201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0201" y="6096001"/>
            <a:ext cx="84201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30200" y="381000"/>
            <a:ext cx="8420100" cy="494284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898" y="5495278"/>
            <a:ext cx="84201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6305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6898" y="6096000"/>
            <a:ext cx="84201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V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1898650" cy="58515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255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0"/>
            <a:ext cx="8255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63050" y="0"/>
            <a:ext cx="7429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163050" y="5486400"/>
            <a:ext cx="74295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2770" y="5648961"/>
            <a:ext cx="59436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14BC6D76-0571-42D8-9223-18351A21FD92}" type="slidenum">
              <a:rPr lang="es-VE" smtClean="0"/>
              <a:pPr/>
              <a:t>‹Nº›</a:t>
            </a:fld>
            <a:endParaRPr lang="es-V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8317789" y="4033520"/>
            <a:ext cx="2367281" cy="396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s-V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8282230" y="1630680"/>
            <a:ext cx="2438399" cy="396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7566229-4400-45CF-90FD-8A5383363B2B}" type="datetimeFigureOut">
              <a:rPr lang="es-VE" smtClean="0"/>
              <a:pPr/>
              <a:t>6/9/2023</a:t>
            </a:fld>
            <a:endParaRPr 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40532" y="1412777"/>
            <a:ext cx="8172450" cy="2593975"/>
          </a:xfrm>
        </p:spPr>
        <p:txBody>
          <a:bodyPr/>
          <a:lstStyle/>
          <a:p>
            <a:pPr algn="ctr"/>
            <a:r>
              <a:rPr lang="es-VE" sz="6000" u="sng" dirty="0" smtClean="0">
                <a:latin typeface="+mn-lt"/>
              </a:rPr>
              <a:t>Sistema de </a:t>
            </a:r>
            <a:r>
              <a:rPr lang="es-VE" sz="6000" u="sng" dirty="0" smtClean="0">
                <a:latin typeface="+mn-lt"/>
              </a:rPr>
              <a:t>Bombeo de Petróleo</a:t>
            </a:r>
            <a:endParaRPr lang="es-VE" sz="6000" u="sng" dirty="0">
              <a:latin typeface="+mn-lt"/>
            </a:endParaRPr>
          </a:p>
        </p:txBody>
      </p:sp>
      <p:pic>
        <p:nvPicPr>
          <p:cNvPr id="4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1" y="188639"/>
            <a:ext cx="1826418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9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1" y="188639"/>
            <a:ext cx="1826418" cy="866775"/>
          </a:xfrm>
          <a:prstGeom prst="rect">
            <a:avLst/>
          </a:prstGeom>
        </p:spPr>
      </p:pic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>
          <a:xfrm>
            <a:off x="1199240" y="622026"/>
            <a:ext cx="7000240" cy="4824536"/>
          </a:xfrm>
        </p:spPr>
        <p:txBody>
          <a:bodyPr>
            <a:normAutofit fontScale="77500" lnSpcReduction="20000"/>
          </a:bodyPr>
          <a:lstStyle/>
          <a:p>
            <a:pPr algn="ctr"/>
            <a:endParaRPr lang="es-VE" dirty="0" smtClean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endParaRPr lang="es-VE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s-VE" sz="3500" u="sng" dirty="0" smtClean="0">
                <a:solidFill>
                  <a:schemeClr val="accent1">
                    <a:lumMod val="75000"/>
                  </a:schemeClr>
                </a:solidFill>
              </a:rPr>
              <a:t>Sistema de Bombas de Hidráulicas:</a:t>
            </a:r>
          </a:p>
          <a:p>
            <a:pPr algn="ctr"/>
            <a:endParaRPr lang="es-VE" dirty="0" smtClean="0">
              <a:solidFill>
                <a:schemeClr val="tx2">
                  <a:lumMod val="50000"/>
                </a:schemeClr>
              </a:solidFill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es-VE" dirty="0" smtClean="0">
                <a:solidFill>
                  <a:schemeClr val="tx1"/>
                </a:solidFill>
              </a:rPr>
              <a:t> Es un sistema compuesto por un motor hidráulico y una bomba de tornillo, dicho motor el cual impulsa mediante aceite Hidráulico una presión variable desde 0 psi a 10.000 psi . </a:t>
            </a:r>
            <a:r>
              <a:rPr lang="es-VE" dirty="0" smtClean="0">
                <a:solidFill>
                  <a:schemeClr val="tx1"/>
                </a:solidFill>
              </a:rPr>
              <a:t>Se conectan  </a:t>
            </a:r>
            <a:r>
              <a:rPr lang="es-VE" dirty="0" smtClean="0">
                <a:solidFill>
                  <a:schemeClr val="tx1"/>
                </a:solidFill>
              </a:rPr>
              <a:t>por mangueras hidráulicas que hace girar el tornillo de la bomba para succionar líquidos livianos (Aguas efluentes) y de API pesados, también posee incorporado un plato recolector de Crudo liviano (Natilla) el cual </a:t>
            </a:r>
            <a:r>
              <a:rPr lang="es-VE" dirty="0" smtClean="0">
                <a:solidFill>
                  <a:schemeClr val="tx1"/>
                </a:solidFill>
              </a:rPr>
              <a:t> </a:t>
            </a:r>
            <a:r>
              <a:rPr lang="es-VE" dirty="0" smtClean="0">
                <a:solidFill>
                  <a:schemeClr val="tx1"/>
                </a:solidFill>
              </a:rPr>
              <a:t>hace un trabajo de recolección del mismo (Crudo) con una mínima cantidad de otros líquidos  con el propósito de sus separación o deshidratación se obtenga de una manera mas eficaz.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es-VE" dirty="0" smtClean="0">
                <a:solidFill>
                  <a:schemeClr val="tx1"/>
                </a:solidFill>
              </a:rPr>
              <a:t>Este sistema tiene una capacidad de producción de Crudo (Natilla) de </a:t>
            </a:r>
            <a:r>
              <a:rPr lang="es-VE" dirty="0" smtClean="0">
                <a:solidFill>
                  <a:schemeClr val="tx1"/>
                </a:solidFill>
              </a:rPr>
              <a:t>1500 Barriles   </a:t>
            </a:r>
            <a:r>
              <a:rPr lang="es-VE" dirty="0" smtClean="0">
                <a:solidFill>
                  <a:schemeClr val="tx1"/>
                </a:solidFill>
              </a:rPr>
              <a:t>por 24 horas de acuerdo al </a:t>
            </a:r>
            <a:r>
              <a:rPr lang="es-VE" dirty="0" err="1" smtClean="0">
                <a:solidFill>
                  <a:schemeClr val="tx1"/>
                </a:solidFill>
              </a:rPr>
              <a:t>Stroker</a:t>
            </a:r>
            <a:r>
              <a:rPr lang="es-VE" dirty="0" smtClean="0">
                <a:solidFill>
                  <a:schemeClr val="tx1"/>
                </a:solidFill>
              </a:rPr>
              <a:t> o requerimiento del proceso</a:t>
            </a:r>
            <a:endParaRPr lang="es-VE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06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>
          <a:xfrm>
            <a:off x="1095348" y="928670"/>
            <a:ext cx="7000240" cy="4824536"/>
          </a:xfrm>
        </p:spPr>
        <p:txBody>
          <a:bodyPr>
            <a:normAutofit/>
          </a:bodyPr>
          <a:lstStyle/>
          <a:p>
            <a:pPr algn="ctr"/>
            <a:endParaRPr lang="es-VE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s-VE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s-VE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342900" indent="-342900">
              <a:buFont typeface="Arial" pitchFamily="34" charset="0"/>
              <a:buChar char="•"/>
            </a:pPr>
            <a:endParaRPr lang="es-VE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Flecha abajo 13"/>
          <p:cNvSpPr/>
          <p:nvPr/>
        </p:nvSpPr>
        <p:spPr>
          <a:xfrm>
            <a:off x="309530" y="2571744"/>
            <a:ext cx="357190" cy="1500198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000" b="1" dirty="0">
                <a:solidFill>
                  <a:schemeClr val="tx1"/>
                </a:solidFill>
              </a:rPr>
              <a:t>D</a:t>
            </a:r>
            <a:r>
              <a:rPr lang="es-VE" sz="1000" b="1" dirty="0" smtClean="0">
                <a:solidFill>
                  <a:schemeClr val="tx1"/>
                </a:solidFill>
              </a:rPr>
              <a:t>estino</a:t>
            </a:r>
            <a:endParaRPr lang="es-VE" sz="1000" b="1" dirty="0">
              <a:solidFill>
                <a:schemeClr val="tx1"/>
              </a:solidFill>
            </a:endParaRPr>
          </a:p>
        </p:txBody>
      </p:sp>
      <p:pic>
        <p:nvPicPr>
          <p:cNvPr id="5" name="Imagen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82" y="1857364"/>
            <a:ext cx="2311601" cy="1085182"/>
          </a:xfrm>
          <a:prstGeom prst="rect">
            <a:avLst/>
          </a:prstGeom>
        </p:spPr>
      </p:pic>
      <p:sp>
        <p:nvSpPr>
          <p:cNvPr id="7" name="Forma en L 37"/>
          <p:cNvSpPr/>
          <p:nvPr/>
        </p:nvSpPr>
        <p:spPr>
          <a:xfrm flipV="1">
            <a:off x="2381232" y="1857364"/>
            <a:ext cx="1910617" cy="322523"/>
          </a:xfrm>
          <a:prstGeom prst="corner">
            <a:avLst/>
          </a:prstGeom>
          <a:solidFill>
            <a:schemeClr val="bg2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cxnSp>
        <p:nvCxnSpPr>
          <p:cNvPr id="8" name="Conector recto de flecha 50"/>
          <p:cNvCxnSpPr/>
          <p:nvPr/>
        </p:nvCxnSpPr>
        <p:spPr>
          <a:xfrm flipH="1">
            <a:off x="3155890" y="2175814"/>
            <a:ext cx="916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ángulo 26"/>
          <p:cNvSpPr/>
          <p:nvPr/>
        </p:nvSpPr>
        <p:spPr>
          <a:xfrm>
            <a:off x="3309926" y="3571876"/>
            <a:ext cx="4115067" cy="21431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600" dirty="0" smtClean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cs typeface="Arial" pitchFamily="34" charset="0"/>
              </a:rPr>
              <a:t>Salida de Crudo</a:t>
            </a:r>
            <a:endParaRPr lang="es-VE" sz="1600" dirty="0">
              <a:ln>
                <a:solidFill>
                  <a:schemeClr val="tx1"/>
                </a:solidFill>
              </a:ln>
              <a:solidFill>
                <a:schemeClr val="tx1"/>
              </a:solidFill>
              <a:cs typeface="Arial" pitchFamily="34" charset="0"/>
            </a:endParaRPr>
          </a:p>
        </p:txBody>
      </p:sp>
      <p:sp>
        <p:nvSpPr>
          <p:cNvPr id="10" name="Rectángulo 1"/>
          <p:cNvSpPr/>
          <p:nvPr/>
        </p:nvSpPr>
        <p:spPr>
          <a:xfrm>
            <a:off x="6310322" y="2000240"/>
            <a:ext cx="1571636" cy="239450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Fosa de Crudo    </a:t>
            </a:r>
            <a:endParaRPr lang="es-VE" dirty="0"/>
          </a:p>
        </p:txBody>
      </p:sp>
      <p:sp>
        <p:nvSpPr>
          <p:cNvPr id="11" name="Marco 24"/>
          <p:cNvSpPr/>
          <p:nvPr/>
        </p:nvSpPr>
        <p:spPr>
          <a:xfrm>
            <a:off x="6096008" y="1785926"/>
            <a:ext cx="2016897" cy="2784389"/>
          </a:xfrm>
          <a:prstGeom prst="fram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13" name="Rectángulo redondeado 3"/>
          <p:cNvSpPr/>
          <p:nvPr/>
        </p:nvSpPr>
        <p:spPr>
          <a:xfrm>
            <a:off x="3309926" y="1785926"/>
            <a:ext cx="1054443" cy="219950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>
                <a:solidFill>
                  <a:schemeClr val="tx1"/>
                </a:solidFill>
              </a:rPr>
              <a:t>Tanque de Crudo 500 Bls</a:t>
            </a:r>
            <a:endParaRPr lang="es-VE" dirty="0">
              <a:solidFill>
                <a:schemeClr val="tx1"/>
              </a:solidFill>
            </a:endParaRPr>
          </a:p>
        </p:txBody>
      </p:sp>
      <p:sp>
        <p:nvSpPr>
          <p:cNvPr id="14" name="Rectángulo 23"/>
          <p:cNvSpPr/>
          <p:nvPr/>
        </p:nvSpPr>
        <p:spPr>
          <a:xfrm flipH="1" flipV="1">
            <a:off x="7524768" y="3786190"/>
            <a:ext cx="994512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5" name="Rectángulo 23"/>
          <p:cNvSpPr/>
          <p:nvPr/>
        </p:nvSpPr>
        <p:spPr>
          <a:xfrm rot="16200000" flipV="1">
            <a:off x="7179280" y="2488603"/>
            <a:ext cx="2594082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16" name="Rectángulo 16"/>
          <p:cNvSpPr/>
          <p:nvPr/>
        </p:nvSpPr>
        <p:spPr>
          <a:xfrm>
            <a:off x="7810521" y="4000504"/>
            <a:ext cx="857256" cy="45719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accent2"/>
              </a:solidFill>
            </a:endParaRPr>
          </a:p>
        </p:txBody>
      </p:sp>
      <p:sp>
        <p:nvSpPr>
          <p:cNvPr id="17" name="Rectángulo 19"/>
          <p:cNvSpPr/>
          <p:nvPr/>
        </p:nvSpPr>
        <p:spPr>
          <a:xfrm rot="5400000" flipV="1">
            <a:off x="6976125" y="2334571"/>
            <a:ext cx="3429023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20" name="Rectángulo 56"/>
          <p:cNvSpPr/>
          <p:nvPr/>
        </p:nvSpPr>
        <p:spPr>
          <a:xfrm>
            <a:off x="4881562" y="2357430"/>
            <a:ext cx="1133769" cy="4935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Bomba de Tornillo</a:t>
            </a:r>
            <a:endParaRPr lang="es-VE" dirty="0"/>
          </a:p>
        </p:txBody>
      </p:sp>
      <p:sp>
        <p:nvSpPr>
          <p:cNvPr id="21" name="Rectángulo 10"/>
          <p:cNvSpPr/>
          <p:nvPr/>
        </p:nvSpPr>
        <p:spPr>
          <a:xfrm>
            <a:off x="7881958" y="4714884"/>
            <a:ext cx="1143008" cy="6429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sz="1000" dirty="0" smtClean="0"/>
          </a:p>
          <a:p>
            <a:pPr algn="ctr"/>
            <a:r>
              <a:rPr lang="es-VE" sz="1200" dirty="0" smtClean="0">
                <a:solidFill>
                  <a:schemeClr val="tx1"/>
                </a:solidFill>
              </a:rPr>
              <a:t>Mangueras </a:t>
            </a:r>
            <a:r>
              <a:rPr lang="es-VE" sz="1200" dirty="0">
                <a:solidFill>
                  <a:schemeClr val="tx1"/>
                </a:solidFill>
              </a:rPr>
              <a:t>Hidráulicas In/</a:t>
            </a:r>
            <a:r>
              <a:rPr lang="es-VE" sz="1200" dirty="0" err="1">
                <a:solidFill>
                  <a:schemeClr val="tx1"/>
                </a:solidFill>
              </a:rPr>
              <a:t>Out</a:t>
            </a:r>
            <a:r>
              <a:rPr lang="es-VE" sz="12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s-VE" sz="1000" dirty="0" smtClean="0"/>
              <a:t>  </a:t>
            </a:r>
            <a:endParaRPr lang="es-VE" sz="1000" dirty="0"/>
          </a:p>
        </p:txBody>
      </p:sp>
      <p:cxnSp>
        <p:nvCxnSpPr>
          <p:cNvPr id="22" name="Conector recto de flecha 33"/>
          <p:cNvCxnSpPr/>
          <p:nvPr/>
        </p:nvCxnSpPr>
        <p:spPr>
          <a:xfrm rot="5400000">
            <a:off x="8025628" y="2356636"/>
            <a:ext cx="571504" cy="15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33"/>
          <p:cNvCxnSpPr/>
          <p:nvPr/>
        </p:nvCxnSpPr>
        <p:spPr>
          <a:xfrm rot="5400000" flipH="1" flipV="1">
            <a:off x="8239942" y="4499776"/>
            <a:ext cx="428628" cy="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de flecha 36"/>
          <p:cNvCxnSpPr/>
          <p:nvPr/>
        </p:nvCxnSpPr>
        <p:spPr>
          <a:xfrm>
            <a:off x="5595942" y="2928934"/>
            <a:ext cx="1643074" cy="857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6" name="Imagen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92" y="4143380"/>
            <a:ext cx="2728385" cy="1811241"/>
          </a:xfrm>
          <a:prstGeom prst="rect">
            <a:avLst/>
          </a:prstGeom>
        </p:spPr>
      </p:pic>
      <p:sp>
        <p:nvSpPr>
          <p:cNvPr id="27" name="Rectángulo 25"/>
          <p:cNvSpPr/>
          <p:nvPr/>
        </p:nvSpPr>
        <p:spPr>
          <a:xfrm>
            <a:off x="483187" y="5952674"/>
            <a:ext cx="2117809" cy="3163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1200" b="1" i="1" dirty="0" smtClean="0">
                <a:solidFill>
                  <a:schemeClr val="tx1"/>
                </a:solidFill>
              </a:rPr>
              <a:t>Destino Final </a:t>
            </a:r>
            <a:endParaRPr lang="es-VE" sz="1200" b="1" i="1" dirty="0">
              <a:solidFill>
                <a:schemeClr val="tx1"/>
              </a:solidFill>
            </a:endParaRPr>
          </a:p>
        </p:txBody>
      </p:sp>
      <p:sp>
        <p:nvSpPr>
          <p:cNvPr id="28" name="Rectángulo redondeado 42"/>
          <p:cNvSpPr/>
          <p:nvPr/>
        </p:nvSpPr>
        <p:spPr>
          <a:xfrm>
            <a:off x="3881430" y="5143512"/>
            <a:ext cx="1714512" cy="92869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>
                <a:solidFill>
                  <a:schemeClr val="tx1"/>
                </a:solidFill>
              </a:rPr>
              <a:t>Tráiler Operacional / laboratorio</a:t>
            </a:r>
            <a:endParaRPr lang="es-VE" dirty="0">
              <a:solidFill>
                <a:schemeClr val="tx1"/>
              </a:solidFill>
            </a:endParaRPr>
          </a:p>
        </p:txBody>
      </p:sp>
      <p:sp>
        <p:nvSpPr>
          <p:cNvPr id="29" name="Flecha arriba 54"/>
          <p:cNvSpPr/>
          <p:nvPr/>
        </p:nvSpPr>
        <p:spPr>
          <a:xfrm rot="16200000">
            <a:off x="5751803" y="5344841"/>
            <a:ext cx="434109" cy="602954"/>
          </a:xfrm>
          <a:prstGeom prst="upArrow">
            <a:avLst/>
          </a:prstGeom>
          <a:solidFill>
            <a:srgbClr val="FFFF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31" name="Rectángulo 2"/>
          <p:cNvSpPr/>
          <p:nvPr/>
        </p:nvSpPr>
        <p:spPr>
          <a:xfrm>
            <a:off x="6453198" y="571480"/>
            <a:ext cx="1652175" cy="9515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Bomba/Motor Hidráulico</a:t>
            </a:r>
            <a:endParaRPr lang="es-VE" dirty="0"/>
          </a:p>
        </p:txBody>
      </p:sp>
      <p:sp>
        <p:nvSpPr>
          <p:cNvPr id="32" name="Rectángulo 8"/>
          <p:cNvSpPr/>
          <p:nvPr/>
        </p:nvSpPr>
        <p:spPr>
          <a:xfrm>
            <a:off x="8096272" y="642918"/>
            <a:ext cx="148280" cy="81554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4" name="Trapecio 5"/>
          <p:cNvSpPr/>
          <p:nvPr/>
        </p:nvSpPr>
        <p:spPr>
          <a:xfrm>
            <a:off x="7310454" y="3571876"/>
            <a:ext cx="525549" cy="357190"/>
          </a:xfrm>
          <a:prstGeom prst="trapezoid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5" name="Anillo 6"/>
          <p:cNvSpPr/>
          <p:nvPr/>
        </p:nvSpPr>
        <p:spPr>
          <a:xfrm>
            <a:off x="7310454" y="3786190"/>
            <a:ext cx="514865" cy="428367"/>
          </a:xfrm>
          <a:prstGeom prst="donu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>
              <a:solidFill>
                <a:schemeClr val="tx1"/>
              </a:solidFill>
            </a:endParaRPr>
          </a:p>
        </p:txBody>
      </p:sp>
      <p:sp>
        <p:nvSpPr>
          <p:cNvPr id="38" name="Rectángulo redondeado 51"/>
          <p:cNvSpPr/>
          <p:nvPr/>
        </p:nvSpPr>
        <p:spPr>
          <a:xfrm>
            <a:off x="6381760" y="5072074"/>
            <a:ext cx="1428760" cy="1000132"/>
          </a:xfrm>
          <a:prstGeom prst="roundRect">
            <a:avLst>
              <a:gd name="adj" fmla="val 28823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dirty="0" smtClean="0">
                <a:solidFill>
                  <a:schemeClr val="tx1"/>
                </a:solidFill>
              </a:rPr>
              <a:t>Generador eléctrico 400 </a:t>
            </a:r>
            <a:r>
              <a:rPr lang="es-VE" dirty="0" err="1" smtClean="0">
                <a:solidFill>
                  <a:schemeClr val="tx1"/>
                </a:solidFill>
              </a:rPr>
              <a:t>Kwa</a:t>
            </a:r>
            <a:endParaRPr lang="es-VE" dirty="0">
              <a:solidFill>
                <a:schemeClr val="tx1"/>
              </a:solidFill>
            </a:endParaRPr>
          </a:p>
        </p:txBody>
      </p:sp>
      <p:sp>
        <p:nvSpPr>
          <p:cNvPr id="39" name="Rectángulo 23"/>
          <p:cNvSpPr/>
          <p:nvPr/>
        </p:nvSpPr>
        <p:spPr>
          <a:xfrm flipH="1">
            <a:off x="8096272" y="1214422"/>
            <a:ext cx="351570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0" name="Rectángulo 23"/>
          <p:cNvSpPr/>
          <p:nvPr/>
        </p:nvSpPr>
        <p:spPr>
          <a:xfrm flipH="1">
            <a:off x="8096272" y="597199"/>
            <a:ext cx="571504" cy="4571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cxnSp>
        <p:nvCxnSpPr>
          <p:cNvPr id="46" name="Conector recto de flecha 33"/>
          <p:cNvCxnSpPr/>
          <p:nvPr/>
        </p:nvCxnSpPr>
        <p:spPr>
          <a:xfrm rot="5400000" flipH="1" flipV="1">
            <a:off x="8561413" y="2320917"/>
            <a:ext cx="642942" cy="15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Rectángulo 41"/>
          <p:cNvSpPr/>
          <p:nvPr/>
        </p:nvSpPr>
        <p:spPr>
          <a:xfrm>
            <a:off x="2309794" y="142852"/>
            <a:ext cx="5143536" cy="3694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VE" dirty="0" smtClean="0"/>
              <a:t>Extracción de Crudo Mediante Bomba hidráulica </a:t>
            </a:r>
            <a:endParaRPr lang="es-VE" dirty="0"/>
          </a:p>
        </p:txBody>
      </p:sp>
      <p:pic>
        <p:nvPicPr>
          <p:cNvPr id="53" name="Imagen 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54" y="142852"/>
            <a:ext cx="1554615" cy="9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17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1" y="188639"/>
            <a:ext cx="1826418" cy="866775"/>
          </a:xfrm>
          <a:prstGeom prst="rect">
            <a:avLst/>
          </a:prstGeom>
        </p:spPr>
      </p:pic>
      <p:sp>
        <p:nvSpPr>
          <p:cNvPr id="7" name="5 Subtítulo"/>
          <p:cNvSpPr txBox="1">
            <a:spLocks/>
          </p:cNvSpPr>
          <p:nvPr/>
        </p:nvSpPr>
        <p:spPr>
          <a:xfrm>
            <a:off x="1442610" y="622026"/>
            <a:ext cx="7000240" cy="20148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VE" dirty="0" smtClean="0">
              <a:solidFill>
                <a:schemeClr val="tx2">
                  <a:lumMod val="50000"/>
                </a:schemeClr>
              </a:solidFill>
            </a:endParaRPr>
          </a:p>
          <a:p>
            <a:pPr algn="just"/>
            <a:r>
              <a:rPr lang="es-VE" dirty="0" smtClean="0">
                <a:solidFill>
                  <a:schemeClr val="tx2">
                    <a:lumMod val="50000"/>
                  </a:schemeClr>
                </a:solidFill>
              </a:rPr>
              <a:t>      </a:t>
            </a:r>
          </a:p>
          <a:p>
            <a:pPr algn="just"/>
            <a:endParaRPr lang="es-VE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342900" indent="-342900" algn="just">
              <a:buFont typeface="Arial" pitchFamily="34" charset="0"/>
              <a:buChar char="•"/>
            </a:pPr>
            <a:endParaRPr lang="es-VE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342900" indent="-342900" algn="just">
              <a:buFont typeface="Arial" pitchFamily="34" charset="0"/>
              <a:buChar char="•"/>
            </a:pPr>
            <a:endParaRPr lang="es-VE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5 Título"/>
          <p:cNvSpPr>
            <a:spLocks noGrp="1"/>
          </p:cNvSpPr>
          <p:nvPr>
            <p:ph type="ctrTitle"/>
          </p:nvPr>
        </p:nvSpPr>
        <p:spPr>
          <a:xfrm>
            <a:off x="742950" y="571481"/>
            <a:ext cx="8172450" cy="1357321"/>
          </a:xfrm>
        </p:spPr>
        <p:txBody>
          <a:bodyPr/>
          <a:lstStyle/>
          <a:p>
            <a:r>
              <a:rPr lang="es-VE" sz="3200" dirty="0" smtClean="0">
                <a:latin typeface="+mn-lt"/>
              </a:rPr>
              <a:t>                                       </a:t>
            </a:r>
            <a:r>
              <a:rPr lang="es-VE" sz="3200" u="sng" dirty="0" smtClean="0">
                <a:latin typeface="+mn-lt"/>
              </a:rPr>
              <a:t>Fotos</a:t>
            </a:r>
            <a:endParaRPr lang="es-VE" sz="3200" u="sng" dirty="0">
              <a:latin typeface="+mn-lt"/>
            </a:endParaRPr>
          </a:p>
        </p:txBody>
      </p:sp>
      <p:sp>
        <p:nvSpPr>
          <p:cNvPr id="8" name="7 Subtítulo"/>
          <p:cNvSpPr>
            <a:spLocks noGrp="1"/>
          </p:cNvSpPr>
          <p:nvPr>
            <p:ph type="subTitle" idx="1"/>
          </p:nvPr>
        </p:nvSpPr>
        <p:spPr>
          <a:xfrm>
            <a:off x="742950" y="1928802"/>
            <a:ext cx="7996264" cy="4214842"/>
          </a:xfrm>
        </p:spPr>
        <p:txBody>
          <a:bodyPr/>
          <a:lstStyle/>
          <a:p>
            <a:r>
              <a:rPr lang="es-VE" dirty="0" smtClean="0"/>
              <a:t>   </a:t>
            </a:r>
          </a:p>
          <a:p>
            <a:r>
              <a:rPr lang="es-VE" dirty="0" smtClean="0"/>
              <a:t>      </a:t>
            </a:r>
            <a:r>
              <a:rPr lang="es-VE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Motor y Bomba Hidráulica              Bomba de Tornillo</a:t>
            </a:r>
          </a:p>
          <a:p>
            <a:endParaRPr lang="es-VE" dirty="0" smtClean="0"/>
          </a:p>
          <a:p>
            <a:endParaRPr lang="es-VE" dirty="0" smtClean="0"/>
          </a:p>
          <a:p>
            <a:endParaRPr lang="es-VE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9596" y="3000372"/>
            <a:ext cx="3816000" cy="2937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81562" y="3000372"/>
            <a:ext cx="3600000" cy="2933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5724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1" y="188639"/>
            <a:ext cx="1826418" cy="866775"/>
          </a:xfrm>
          <a:prstGeom prst="rect">
            <a:avLst/>
          </a:prstGeom>
        </p:spPr>
      </p:pic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309530" y="130882"/>
            <a:ext cx="8172450" cy="1785950"/>
          </a:xfrm>
        </p:spPr>
        <p:txBody>
          <a:bodyPr/>
          <a:lstStyle/>
          <a:p>
            <a:r>
              <a:rPr lang="es-VE" sz="3200" dirty="0" smtClean="0">
                <a:latin typeface="+mn-lt"/>
              </a:rPr>
              <a:t>                                              </a:t>
            </a:r>
            <a:r>
              <a:rPr lang="es-VE" sz="3200" u="sng" dirty="0" smtClean="0">
                <a:latin typeface="+mn-lt"/>
              </a:rPr>
              <a:t>Fotos</a:t>
            </a:r>
            <a:endParaRPr lang="es-VE" sz="3600" u="sng" dirty="0">
              <a:latin typeface="+mn-lt"/>
            </a:endParaRPr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742950" y="2071678"/>
            <a:ext cx="7781950" cy="4071966"/>
          </a:xfrm>
        </p:spPr>
        <p:txBody>
          <a:bodyPr/>
          <a:lstStyle/>
          <a:p>
            <a:endParaRPr lang="es-VE" dirty="0" smtClean="0"/>
          </a:p>
          <a:p>
            <a:r>
              <a:rPr lang="es-VE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                  </a:t>
            </a:r>
            <a:r>
              <a:rPr lang="es-VE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Extracción de Crudo (Natilla)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9596" y="3214686"/>
            <a:ext cx="3637193" cy="29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10124" y="3214686"/>
            <a:ext cx="3643338" cy="295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89067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81" y="188639"/>
            <a:ext cx="1826418" cy="866775"/>
          </a:xfrm>
          <a:prstGeom prst="rect">
            <a:avLst/>
          </a:prstGeom>
        </p:spPr>
      </p:pic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72481" y="188639"/>
            <a:ext cx="8064895" cy="1668725"/>
          </a:xfrm>
        </p:spPr>
        <p:txBody>
          <a:bodyPr/>
          <a:lstStyle/>
          <a:p>
            <a:pPr algn="ctr"/>
            <a:r>
              <a:rPr lang="es-VE" sz="3200" u="sng" dirty="0" smtClean="0">
                <a:latin typeface="+mn-lt"/>
              </a:rPr>
              <a:t>Fotos</a:t>
            </a:r>
            <a:endParaRPr lang="es-VE" sz="3200" u="sng" dirty="0">
              <a:latin typeface="+mn-lt"/>
            </a:endParaRPr>
          </a:p>
        </p:txBody>
      </p:sp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lang="es-VE" smtClean="0"/>
          </a:p>
          <a:p>
            <a:endParaRPr lang="es-VE" smtClean="0"/>
          </a:p>
          <a:p>
            <a:endParaRPr lang="es-VE" smtClean="0"/>
          </a:p>
          <a:p>
            <a:r>
              <a:rPr lang="es-VE" smtClean="0"/>
              <a:t> </a:t>
            </a:r>
          </a:p>
          <a:p>
            <a:endParaRPr lang="es-VE" dirty="0"/>
          </a:p>
        </p:txBody>
      </p:sp>
      <p:pic>
        <p:nvPicPr>
          <p:cNvPr id="1026" name="Picture 2" descr="F:\Users\Toni Chami\Downloads\b0efd4b9-5561-4d4b-a80b-f4a388f737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720" y="1055414"/>
            <a:ext cx="5040560" cy="539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9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yacenci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yace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853</TotalTime>
  <Words>203</Words>
  <Application>Microsoft Office PowerPoint</Application>
  <PresentationFormat>A4 (210 x 297 mm)</PresentationFormat>
  <Paragraphs>37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Adyacencia</vt:lpstr>
      <vt:lpstr>Sistema de Bombeo de Petróleo</vt:lpstr>
      <vt:lpstr>Presentación de PowerPoint</vt:lpstr>
      <vt:lpstr>Presentación de PowerPoint</vt:lpstr>
      <vt:lpstr>                                       Fotos</vt:lpstr>
      <vt:lpstr>                                              Fotos</vt:lpstr>
      <vt:lpstr>Fotos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Administración y Compras</dc:title>
  <dc:creator>SPSADMIN</dc:creator>
  <cp:lastModifiedBy>Toni Chami</cp:lastModifiedBy>
  <cp:revision>66</cp:revision>
  <dcterms:created xsi:type="dcterms:W3CDTF">2020-06-05T17:03:15Z</dcterms:created>
  <dcterms:modified xsi:type="dcterms:W3CDTF">2023-09-06T20:24:22Z</dcterms:modified>
</cp:coreProperties>
</file>